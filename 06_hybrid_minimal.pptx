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91440" cy="18288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1F3A68"/>
                </a:solidFill>
                <a:latin typeface="游ゴシック"/>
              </a:rPr>
              <a:t>AI全体推進チーム 定例会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10058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游ゴシック"/>
              </a:rPr>
              <a:t>2026.04.21（火） 08:00-09:00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217920"/>
            <a:ext cx="10058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游ゴシック"/>
              </a:rPr>
              <a:t>AI推進チーム事務局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6C757D"/>
                </a:solidFill>
                <a:latin typeface="游ゴシック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25880"/>
            <a:ext cx="91440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2E6BC0"/>
                </a:solidFill>
                <a:latin typeface="游ゴシック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423160"/>
            <a:ext cx="91440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22262E"/>
                </a:solidFill>
                <a:latin typeface="游ゴシック"/>
              </a:rPr>
              <a:t>品質ワーキング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731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2E6BC0"/>
                </a:solidFill>
                <a:latin typeface="游ゴシック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29000"/>
            <a:ext cx="91440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22262E"/>
                </a:solidFill>
                <a:latin typeface="游ゴシック"/>
              </a:rPr>
              <a:t>展開・広報ワーキング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731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2E6BC0"/>
                </a:solidFill>
                <a:latin typeface="游ゴシック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434840"/>
            <a:ext cx="91440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22262E"/>
                </a:solidFill>
                <a:latin typeface="游ゴシック"/>
              </a:rPr>
              <a:t>予算確保・人材育成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6C757D"/>
                </a:solidFill>
                <a:latin typeface="游ゴシック"/>
              </a:rPr>
              <a:t>SECTION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25880"/>
            <a:ext cx="91440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游ゴシック"/>
              </a:rPr>
              <a:t>品質ワーキング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82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2E6BC0"/>
                </a:solidFill>
                <a:latin typeface="游ゴシック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57607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テーマ: Teams会議情報を活用したPM効率化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182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2E6BC0"/>
                </a:solidFill>
                <a:latin typeface="游ゴシック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11880"/>
            <a:ext cx="57607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議事録アシスタントの文字起こし精度が課題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82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2E6BC0"/>
                </a:solidFill>
                <a:latin typeface="游ゴシック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297680"/>
            <a:ext cx="57607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Aqua Voice等で再文字起こしを試験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182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2E6BC0"/>
                </a:solidFill>
                <a:latin typeface="游ゴシック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983480"/>
            <a:ext cx="576072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Googleハッカソンと知見を相互共有</a:t>
            </a:r>
          </a:p>
        </p:txBody>
      </p:sp>
      <p:pic>
        <p:nvPicPr>
          <p:cNvPr id="13" name="Picture 12" descr="c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560320"/>
            <a:ext cx="4389120" cy="23873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0" y="5943600"/>
            <a:ext cx="43891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游ゴシック"/>
              </a:rPr>
              <a:t>文字起こしが-32pt。最大のボトルネック。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6C757D"/>
                </a:solidFill>
                <a:latin typeface="游ゴシック"/>
              </a:rPr>
              <a:t>SECTION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25880"/>
            <a:ext cx="91440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游ゴシック"/>
              </a:rPr>
              <a:t>展開・広報ワーキング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82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2E6BC0"/>
                </a:solidFill>
                <a:latin typeface="游ゴシック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9601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22262E"/>
                </a:solidFill>
                <a:latin typeface="游ゴシック"/>
              </a:rPr>
              <a:t>PCY斎藤さん参画（Copilot教育）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182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2E6BC0"/>
                </a:solidFill>
                <a:latin typeface="游ゴシック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86200"/>
            <a:ext cx="9601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22262E"/>
                </a:solidFill>
                <a:latin typeface="游ゴシック"/>
              </a:rPr>
              <a:t>「工程ばらし起点のAI活用」をTPS推進部と全社標準化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82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2E6BC0"/>
                </a:solidFill>
                <a:latin typeface="游ゴシック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663440"/>
            <a:ext cx="9601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22262E"/>
                </a:solidFill>
                <a:latin typeface="游ゴシック"/>
              </a:rPr>
              <a:t>経営層要請: 効果明確化・2ヶ月毎フォロー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40679"/>
            <a:ext cx="182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2E6BC0"/>
                </a:solidFill>
                <a:latin typeface="游ゴシック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440679"/>
            <a:ext cx="9601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22262E"/>
                </a:solidFill>
                <a:latin typeface="游ゴシック"/>
              </a:rPr>
              <a:t>6月AI活用展示会で進捗報告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6C757D"/>
                </a:solidFill>
                <a:latin typeface="游ゴシック"/>
              </a:rPr>
              <a:t>SECTION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25880"/>
            <a:ext cx="91440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游ゴシック"/>
              </a:rPr>
              <a:t>予算確保・人材育成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82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2E6BC0"/>
                </a:solidFill>
                <a:latin typeface="游ゴシック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9601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22262E"/>
                </a:solidFill>
                <a:latin typeface="游ゴシック"/>
              </a:rPr>
              <a:t>Azure等の有償ツールを一覧化して予算要求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182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2E6BC0"/>
                </a:solidFill>
                <a:latin typeface="游ゴシック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86200"/>
            <a:ext cx="9601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22262E"/>
                </a:solidFill>
                <a:latin typeface="游ゴシック"/>
              </a:rPr>
              <a:t>PTK/EPFマネージャー向け説明会を企画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82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2E6BC0"/>
                </a:solidFill>
                <a:latin typeface="游ゴシック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663440"/>
            <a:ext cx="9601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22262E"/>
                </a:solidFill>
                <a:latin typeface="游ゴシック"/>
              </a:rPr>
              <a:t>マネージャーにはAIリテラシー教育が必要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40679"/>
            <a:ext cx="1828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2E6BC0"/>
                </a:solidFill>
                <a:latin typeface="游ゴシック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440679"/>
            <a:ext cx="9601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22262E"/>
                </a:solidFill>
                <a:latin typeface="游ゴシック"/>
              </a:rPr>
              <a:t>マネージャー特化の教育資料を作成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6C757D"/>
                </a:solidFill>
                <a:latin typeface="游ゴシック"/>
              </a:rPr>
              <a:t>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25880"/>
            <a:ext cx="91440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游ゴシック"/>
              </a:rPr>
              <a:t>ロードマップ (4月〜6月)</a:t>
            </a:r>
          </a:p>
        </p:txBody>
      </p:sp>
      <p:pic>
        <p:nvPicPr>
          <p:cNvPr id="5" name="Picture 4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10332720" cy="51168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游ゴシック"/>
              </a:rPr>
              <a:t>6/15 経営層報告が全体のマイルストーン。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6C757D"/>
                </a:solidFill>
                <a:latin typeface="游ゴシック"/>
              </a:rPr>
              <a:t>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25880"/>
            <a:ext cx="91440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游ゴシック"/>
              </a:rPr>
              <a:t>本日の決定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2E6BC0"/>
                </a:solidFill>
                <a:latin typeface="游ゴシック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96012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品質WGは「Teams会議情報の活用」で始動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731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2E6BC0"/>
                </a:solidFill>
                <a:latin typeface="游ゴシック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337560"/>
            <a:ext cx="96012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展開・広報WGはAI展開指針を策定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731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2E6BC0"/>
                </a:solidFill>
                <a:latin typeface="游ゴシック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931920"/>
            <a:ext cx="96012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TPS推進部と全社標準化を連携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731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2E6BC0"/>
                </a:solidFill>
                <a:latin typeface="游ゴシック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526280"/>
            <a:ext cx="96012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6月AI活用展示会で経営層へ進捗報告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731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2E6BC0"/>
                </a:solidFill>
                <a:latin typeface="游ゴシック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120640"/>
            <a:ext cx="96012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有償ツールをリスト化し予算要求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15000"/>
            <a:ext cx="731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2E6BC0"/>
                </a:solidFill>
                <a:latin typeface="游ゴシック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715000"/>
            <a:ext cx="96012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22262E"/>
                </a:solidFill>
                <a:latin typeface="游ゴシック"/>
              </a:rPr>
              <a:t>PTK・EPFマネージャー向け説明会を実施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1">
                <a:solidFill>
                  <a:srgbClr val="6C757D"/>
                </a:solidFill>
                <a:latin typeface="游ゴシック"/>
              </a:rPr>
              <a:t>NEXT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25880"/>
            <a:ext cx="91440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800" b="1">
                <a:solidFill>
                  <a:srgbClr val="1F3A68"/>
                </a:solidFill>
                <a:latin typeface="游ゴシック"/>
              </a:rPr>
              <a:t>ToDo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743200"/>
          <a:ext cx="1033271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9926"/>
                <a:gridCol w="7232904"/>
                <a:gridCol w="1859889"/>
              </a:tblGrid>
              <a:tr h="4343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6C757D"/>
                          </a:solidFill>
                          <a:latin typeface="游ゴシック"/>
                        </a:rPr>
                        <a:t>担当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6C757D"/>
                          </a:solidFill>
                          <a:latin typeface="游ゴシック"/>
                        </a:rPr>
                        <a:t>アクション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6C757D"/>
                          </a:solidFill>
                          <a:latin typeface="游ゴシック"/>
                        </a:rPr>
                        <a:t>期限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E"/>
                          </a:solidFill>
                          <a:latin typeface="游ゴシック"/>
                        </a:rPr>
                        <a:t>渡辺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E"/>
                          </a:solidFill>
                          <a:latin typeface="游ゴシック"/>
                        </a:rPr>
                        <a:t>ハッカソン知見を共有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E"/>
                          </a:solidFill>
                          <a:latin typeface="游ゴシック"/>
                        </a:rPr>
                        <a:t>5月末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E"/>
                          </a:solidFill>
                          <a:latin typeface="游ゴシック"/>
                        </a:rPr>
                        <a:t>田原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E"/>
                          </a:solidFill>
                          <a:latin typeface="游ゴシック"/>
                        </a:rPr>
                        <a:t>議事録アシスタント試験設計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E"/>
                          </a:solidFill>
                          <a:latin typeface="游ゴシック"/>
                        </a:rPr>
                        <a:t>5月中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E"/>
                          </a:solidFill>
                          <a:latin typeface="游ゴシック"/>
                        </a:rPr>
                        <a:t>湯浅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E"/>
                          </a:solidFill>
                          <a:latin typeface="游ゴシック"/>
                        </a:rPr>
                        <a:t>Aqua Voice等 代替ツール評価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E"/>
                          </a:solidFill>
                          <a:latin typeface="游ゴシック"/>
                        </a:rPr>
                        <a:t>5月中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E"/>
                          </a:solidFill>
                          <a:latin typeface="游ゴシック"/>
                        </a:rPr>
                        <a:t>上地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E"/>
                          </a:solidFill>
                          <a:latin typeface="游ゴシック"/>
                        </a:rPr>
                        <a:t>AI展開指針ドラフト作成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E"/>
                          </a:solidFill>
                          <a:latin typeface="游ゴシック"/>
                        </a:rPr>
                        <a:t>5月末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E"/>
                          </a:solidFill>
                          <a:latin typeface="游ゴシック"/>
                        </a:rPr>
                        <a:t>橘鷹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E"/>
                          </a:solidFill>
                          <a:latin typeface="游ゴシック"/>
                        </a:rPr>
                        <a:t>TPS推進部との連携プラン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E"/>
                          </a:solidFill>
                          <a:latin typeface="游ゴシック"/>
                        </a:rPr>
                        <a:t>6月前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E"/>
                          </a:solidFill>
                          <a:latin typeface="游ゴシック"/>
                        </a:rPr>
                        <a:t>安田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E"/>
                          </a:solidFill>
                          <a:latin typeface="游ゴシック"/>
                        </a:rPr>
                        <a:t>有償ツール共有フォーマット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E"/>
                          </a:solidFill>
                          <a:latin typeface="游ゴシック"/>
                        </a:rPr>
                        <a:t>4月末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E"/>
                          </a:solidFill>
                          <a:latin typeface="游ゴシック"/>
                        </a:rPr>
                        <a:t>安田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E"/>
                          </a:solidFill>
                          <a:latin typeface="游ゴシック"/>
                        </a:rPr>
                        <a:t>マネージャー説明会企画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E"/>
                          </a:solidFill>
                          <a:latin typeface="游ゴシック"/>
                        </a:rPr>
                        <a:t>5月末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108960"/>
            <a:ext cx="7315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游ゴシック"/>
              </a:rPr>
              <a:t>次回: 2026年5月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6C757D"/>
                </a:solidFill>
                <a:latin typeface="游ゴシック"/>
              </a:rPr>
              <a:t>マイルストーン: 6/15 AI活用展示会（経営層報告）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