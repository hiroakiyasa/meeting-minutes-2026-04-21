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37744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游ゴシック"/>
              </a:rPr>
              <a:t>AI全体推進チーム 定例会 議事録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5E1F5"/>
                </a:solidFill>
                <a:latin typeface="游ゴシック"/>
              </a:rPr>
              <a:t>2026年04月21日（火）08:00-09:00  ·  ハイブリッド版（テキスト+チャート+Mermaid）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游ゴシック"/>
              </a:rPr>
              <a:t>作成: AI推進チーム事務局 / skill: jp-automation-pptx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游ゴシック"/>
              </a:rPr>
              <a:t>エグゼクティブサマリー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6746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23088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6BC0"/>
                </a:solidFill>
                <a:latin typeface="游ゴシック"/>
              </a:rPr>
              <a:t>参加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3088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游ゴシック"/>
              </a:rPr>
              <a:t>8名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23088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游ゴシック"/>
              </a:rPr>
              <a:t>8部門横断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4700" y="1280160"/>
            <a:ext cx="26746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7580" y="1417320"/>
            <a:ext cx="23088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6BC0"/>
                </a:solidFill>
                <a:latin typeface="游ゴシック"/>
              </a:rPr>
              <a:t>決定事項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7580" y="1828800"/>
            <a:ext cx="23088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游ゴシック"/>
              </a:rPr>
              <a:t>6件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7580" y="2926080"/>
            <a:ext cx="23088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游ゴシック"/>
              </a:rPr>
              <a:t>全会一致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80160"/>
            <a:ext cx="26746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23088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6BC0"/>
                </a:solidFill>
                <a:latin typeface="游ゴシック"/>
              </a:rPr>
              <a:t>ToDo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23088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游ゴシック"/>
              </a:rPr>
              <a:t>7件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926080"/>
            <a:ext cx="23088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游ゴシック"/>
              </a:rPr>
              <a:t>5名に分担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9700" y="1280160"/>
            <a:ext cx="26746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2580" y="1417320"/>
            <a:ext cx="23088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6BC0"/>
                </a:solidFill>
                <a:latin typeface="游ゴシック"/>
              </a:rPr>
              <a:t>期限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2580" y="1828800"/>
            <a:ext cx="23088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游ゴシック"/>
              </a:rPr>
              <a:t>4-6月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2580" y="2926080"/>
            <a:ext cx="23088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游ゴシック"/>
              </a:rPr>
              <a:t>6月展示会報告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3627120" cy="1737360"/>
          </a:xfrm>
          <a:prstGeom prst="rect">
            <a:avLst/>
          </a:prstGeom>
          <a:solidFill>
            <a:srgbClr val="E9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663440"/>
            <a:ext cx="326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游ゴシック"/>
              </a:rPr>
              <a:t>①品質WG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12080"/>
            <a:ext cx="326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62E"/>
                </a:solidFill>
                <a:latin typeface="游ゴシック"/>
              </a:rPr>
              <a:t>Teams会議情報活用でPM効率化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7200" y="4480560"/>
            <a:ext cx="3627120" cy="1737360"/>
          </a:xfrm>
          <a:prstGeom prst="rect">
            <a:avLst/>
          </a:prstGeom>
          <a:solidFill>
            <a:srgbClr val="E9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0080" y="4663440"/>
            <a:ext cx="326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游ゴシック"/>
              </a:rPr>
              <a:t>②展開・広報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0080" y="5212080"/>
            <a:ext cx="326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62E"/>
                </a:solidFill>
                <a:latin typeface="游ゴシック"/>
              </a:rPr>
              <a:t>工程ばらし起点のトヨタ型AI全社展開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77200" y="4480560"/>
            <a:ext cx="3627120" cy="1737360"/>
          </a:xfrm>
          <a:prstGeom prst="rect">
            <a:avLst/>
          </a:prstGeom>
          <a:solidFill>
            <a:srgbClr val="E9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0080" y="4663440"/>
            <a:ext cx="326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游ゴシック"/>
              </a:rPr>
              <a:t>③予算・人材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0080" y="5212080"/>
            <a:ext cx="326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62E"/>
                </a:solidFill>
                <a:latin typeface="游ゴシック"/>
              </a:rPr>
              <a:t>有償ツール確保とマネージャー育成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游ゴシック"/>
              </a:rPr>
              <a:t>アジェンダ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097280"/>
          </a:xfrm>
          <a:prstGeom prst="roundRect">
            <a:avLst/>
          </a:prstGeom>
          <a:solidFill>
            <a:srgbClr val="E9EFF7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2E6BC0"/>
                </a:solidFill>
                <a:latin typeface="游ゴシック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737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262E"/>
                </a:solidFill>
                <a:latin typeface="游ゴシック"/>
              </a:rPr>
              <a:t>品質ワーキングの進捗報告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698480" cy="1097280"/>
          </a:xfrm>
          <a:prstGeom prst="roundRect">
            <a:avLst/>
          </a:prstGeom>
          <a:solidFill>
            <a:srgbClr val="E9EFF7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2E6BC0"/>
                </a:solidFill>
                <a:latin typeface="游ゴシック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108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262E"/>
                </a:solidFill>
                <a:latin typeface="游ゴシック"/>
              </a:rPr>
              <a:t>展開・広報ワーキングの進捗報告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10698480" cy="1097280"/>
          </a:xfrm>
          <a:prstGeom prst="roundRect">
            <a:avLst/>
          </a:prstGeom>
          <a:solidFill>
            <a:srgbClr val="E9EFF7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2E6BC0"/>
                </a:solidFill>
                <a:latin typeface="游ゴシック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4480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262E"/>
                </a:solidFill>
                <a:latin typeface="游ゴシック"/>
              </a:rPr>
              <a:t>その他共有事項（予算確保、人材育成）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游ゴシック"/>
              </a:rPr>
              <a:t>1. 品質ワーキング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6BC0"/>
                </a:solidFill>
                <a:latin typeface="游ゴシック"/>
              </a:rPr>
              <a:t>▼ テーマ:「Teams会議情報を活用したプロジェクト管理の効率化」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5303520" cy="4754880"/>
          </a:xfrm>
          <a:prstGeom prst="rect">
            <a:avLst/>
          </a:prstGeom>
          <a:solidFill>
            <a:srgbClr val="E9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62E"/>
                </a:solidFill>
                <a:latin typeface="游ゴシック"/>
              </a:rPr>
              <a:t>● 議事録アシスタント・RAG活用を軸に活動開始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62E"/>
                </a:solidFill>
                <a:latin typeface="游ゴシック"/>
              </a:rPr>
              <a:t>● Googleハッカソン「AIエージェントによる会議準備効率化」と知見を相互共有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62E"/>
                </a:solidFill>
                <a:latin typeface="游ゴシック"/>
              </a:rPr>
              <a:t>● 【課題】文字起こし精度（特に漢字変換）が要約品質を下げる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7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62E"/>
                </a:solidFill>
                <a:latin typeface="游ゴシック"/>
              </a:rPr>
              <a:t>● 【改善案】MP4→Aqua Voice等での再文字起こし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62E"/>
                </a:solidFill>
                <a:latin typeface="游ゴシック"/>
              </a:rPr>
              <a:t>● 【改善案】発言者属性のメモリ機能で文脈理解を強化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62E"/>
                </a:solidFill>
                <a:latin typeface="游ゴシック"/>
              </a:rPr>
              <a:t>● Google環境で高精度文字起こしを試験するのが有効（上地）</a:t>
            </a:r>
          </a:p>
        </p:txBody>
      </p:sp>
      <p:pic>
        <p:nvPicPr>
          <p:cNvPr id="12" name="Picture 11" descr="c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37360"/>
            <a:ext cx="5943600" cy="32328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35040" y="6309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游ゴシック"/>
              </a:rPr>
              <a:t>▸ 最大ギャップは文字起こし精度の-32pt。Aqua Voice等の導入効果が期待大。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游ゴシック"/>
              </a:rPr>
              <a:t>2. 展開・広報ワーキング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6BC0"/>
                </a:solidFill>
                <a:latin typeface="游ゴシック"/>
              </a:rPr>
              <a:t>▼ PCY斎藤さん参画。Copilot教育のライブ感・期限設定が鍵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5303520" cy="4754880"/>
          </a:xfrm>
          <a:prstGeom prst="rect">
            <a:avLst/>
          </a:prstGeom>
          <a:solidFill>
            <a:srgbClr val="E9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62E"/>
                </a:solidFill>
                <a:latin typeface="游ゴシック"/>
              </a:rPr>
              <a:t>● 過去のツール展開（成功/失敗）を分析しAI展開指針を策定中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62E"/>
                </a:solidFill>
                <a:latin typeface="游ゴシック"/>
              </a:rPr>
              <a:t>● PPS展示会で「工程ばらしを起点としたAI活用」がTPS推進部・大石さんに高評価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62E"/>
                </a:solidFill>
                <a:latin typeface="游ゴシック"/>
              </a:rPr>
              <a:t>● 「トヨタらしいAI活用」として全社標準化を推進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7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62E"/>
                </a:solidFill>
                <a:latin typeface="游ゴシック"/>
              </a:rPr>
              <a:t>● 戦略会議で車両開発AI事例を経営層報告、「効果明確化」「2ヶ月毎フォロー」を要求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62E"/>
                </a:solidFill>
                <a:latin typeface="游ゴシック"/>
              </a:rPr>
              <a:t>● 6月AI活用展示会で進捗報告（上原役員出張で日程調整の可能性あり）</a:t>
            </a:r>
          </a:p>
        </p:txBody>
      </p:sp>
      <p:pic>
        <p:nvPicPr>
          <p:cNvPr id="11" name="Picture 10" descr="m_esca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760720" cy="21223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游ゴシック"/>
              </a:rPr>
              <a:t>3. 予算確保・人材育成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6BC0"/>
                </a:solidFill>
                <a:latin typeface="游ゴシック"/>
              </a:rPr>
              <a:t>▼ 福山室長の協力のもと、予算要求・教育展開を準備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5303520" cy="4754880"/>
          </a:xfrm>
          <a:prstGeom prst="rect">
            <a:avLst/>
          </a:prstGeom>
          <a:solidFill>
            <a:srgbClr val="E9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62E"/>
                </a:solidFill>
                <a:latin typeface="游ゴシック"/>
              </a:rPr>
              <a:t>● Azure（RAG利用）等の有償ツール購入計画を共有フォーマットで集約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62E"/>
                </a:solidFill>
                <a:latin typeface="游ゴシック"/>
              </a:rPr>
              <a:t>● パワトレGM層向けAI教育を検討、PTK/EPFマネージャー層にも展開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62E"/>
                </a:solidFill>
                <a:latin typeface="游ゴシック"/>
              </a:rPr>
              <a:t>● PCY斎藤さんの講座を必須教育化する案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7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62E"/>
                </a:solidFill>
                <a:latin typeface="游ゴシック"/>
              </a:rPr>
              <a:t>● 安田さん主体でPTK/EPFマネージャー向け説明会を企画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62E"/>
                </a:solidFill>
                <a:latin typeface="游ゴシック"/>
              </a:rPr>
              <a:t>● 【質疑】管理職には可能/不可の見極め等AIリテラシーが必要（上野）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62E"/>
                </a:solidFill>
                <a:latin typeface="游ゴシック"/>
              </a:rPr>
              <a:t>● 【回答】マネージャー特化教材を作成（安田）</a:t>
            </a:r>
          </a:p>
        </p:txBody>
      </p:sp>
      <p:pic>
        <p:nvPicPr>
          <p:cNvPr id="12" name="Picture 11" descr="c_prio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37360"/>
            <a:ext cx="5943600" cy="44325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35040" y="6309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游ゴシック"/>
              </a:rPr>
              <a:t>▸ 右上(緊急度高×効果大)の3件を最優先。6月報告・予算要求・TPS連携。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游ゴシック"/>
              </a:rPr>
              <a:t>ロードマップ ─ 4月〜6月の実行計画</a:t>
            </a:r>
          </a:p>
        </p:txBody>
      </p:sp>
      <p:pic>
        <p:nvPicPr>
          <p:cNvPr id="4" name="Picture 3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698480" cy="53279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游ゴシック"/>
              </a:rPr>
              <a:t>▼ 6月15日の経営層報告が全活動のマイルストーン。2ヶ月毎フォロー要求に整合。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游ゴシック"/>
              </a:rPr>
              <a:t>意思決定フロー ─ 承認と実行の構造</a:t>
            </a:r>
          </a:p>
        </p:txBody>
      </p:sp>
      <p:pic>
        <p:nvPicPr>
          <p:cNvPr id="4" name="Picture 3" descr="decis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698480" cy="54854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游ゴシック"/>
              </a:rPr>
              <a:t>▼ 定例会→展示会→経営層→次サイクルの2ヶ月周期。経営層要請の「2ヶ月毎フォロー」に整合。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游ゴシック"/>
              </a:rPr>
              <a:t>決定事項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713232"/>
          </a:xfrm>
          <a:prstGeom prst="rect">
            <a:avLst/>
          </a:prstGeom>
          <a:solidFill>
            <a:srgbClr val="E9EFF7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6BC0"/>
                </a:solidFill>
                <a:latin typeface="游ゴシック"/>
              </a:rPr>
              <a:t>D1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258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62E"/>
                </a:solidFill>
                <a:latin typeface="游ゴシック"/>
              </a:rPr>
              <a:t>品質ワーキングは「Teams会議情報の活用」をテーマに活動を開始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47672"/>
            <a:ext cx="1106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84831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6BC0"/>
                </a:solidFill>
                <a:latin typeface="游ゴシック"/>
              </a:rPr>
              <a:t>D2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13055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62E"/>
                </a:solidFill>
                <a:latin typeface="游ゴシック"/>
              </a:rPr>
              <a:t>展開・広報ワーキングはAI展開の活動指針を策定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52344"/>
            <a:ext cx="11064240" cy="713232"/>
          </a:xfrm>
          <a:prstGeom prst="rect">
            <a:avLst/>
          </a:prstGeom>
          <a:solidFill>
            <a:srgbClr val="E9EFF7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8950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6BC0"/>
                </a:solidFill>
                <a:latin typeface="游ゴシック"/>
              </a:rPr>
              <a:t>D3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935224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62E"/>
                </a:solidFill>
                <a:latin typeface="游ゴシック"/>
              </a:rPr>
              <a:t>TPS推進部と「トヨタらしいAI活用」の型作り・全社展開を推進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57016"/>
            <a:ext cx="1106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9417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6BC0"/>
                </a:solidFill>
                <a:latin typeface="游ゴシック"/>
              </a:rPr>
              <a:t>D4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739896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62E"/>
                </a:solidFill>
                <a:latin typeface="游ゴシック"/>
              </a:rPr>
              <a:t>6月AI活用展示会で経営層に進捗・効果を報告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61688"/>
            <a:ext cx="11064240" cy="713232"/>
          </a:xfrm>
          <a:prstGeom prst="rect">
            <a:avLst/>
          </a:prstGeom>
          <a:solidFill>
            <a:srgbClr val="E9EFF7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988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6BC0"/>
                </a:solidFill>
                <a:latin typeface="游ゴシック"/>
              </a:rPr>
              <a:t>D5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544568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62E"/>
                </a:solidFill>
                <a:latin typeface="游ゴシック"/>
              </a:rPr>
              <a:t>有償ツール（Azure等）をリスト化し予算要求を準備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166360"/>
            <a:ext cx="11064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2E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6BC0"/>
                </a:solidFill>
                <a:latin typeface="游ゴシック"/>
              </a:rPr>
              <a:t>D6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3492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62E"/>
                </a:solidFill>
                <a:latin typeface="游ゴシック"/>
              </a:rPr>
              <a:t>PTK・EPFマネージャー向け説明会を実施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游ゴシック"/>
              </a:rPr>
              <a:t>ToDo（次回までのアクション）</a:t>
            </a:r>
          </a:p>
        </p:txBody>
      </p:sp>
      <p:pic>
        <p:nvPicPr>
          <p:cNvPr id="4" name="Picture 3" descr="todo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760720" cy="303195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188720"/>
          <a:ext cx="54864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566160"/>
                <a:gridCol w="1097280"/>
              </a:tblGrid>
              <a:tr h="62865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游ゴシック"/>
                        </a:rPr>
                        <a:t>担当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游ゴシック"/>
                        </a:rPr>
                        <a:t>アクション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游ゴシック"/>
                        </a:rPr>
                        <a:t>期限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渡辺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ハッカソン知見を品質WGに共有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5月末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田原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議事録アシスタント試験設計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5月中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湯浅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Aqua Voice等 代替ツール評価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5月中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上地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AI展開指針ドラフト作成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5月末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橘鷹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TPS推進部との連携プラン具体化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6月前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安田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有償ツール共有フォーマット作成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4月末</a:t>
                      </a:r>
                    </a:p>
                  </a:txBody>
                  <a:tcPr>
                    <a:solidFill>
                      <a:srgbClr val="E9EFF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安田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PTK/EPFマネージャー説明会企画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游ゴシック"/>
                        </a:rPr>
                        <a:t>5月末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游ゴシック"/>
              </a:rPr>
              <a:t>次回: 2026年5月 予定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5E1F5"/>
                </a:solidFill>
                <a:latin typeface="游ゴシック"/>
              </a:rPr>
              <a:t>マイルストーン: 6月15日 AI活用展示会（経営層報告）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3B8D8"/>
                </a:solidFill>
                <a:latin typeface="游ゴシック"/>
              </a:rPr>
              <a:t>skill: jp-automation-pptx v1.0 / automation + data-visualization + mermaid-diagrams hybrid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