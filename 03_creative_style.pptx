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FD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4114800"/>
            <a:ext cx="6248095" cy="2743200"/>
          </a:xfrm>
          <a:prstGeom prst="rect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161A2D"/>
                </a:solidFill>
                <a:latin typeface="Helvetica Neue"/>
              </a:rPr>
              <a:t>AI推進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161A2D"/>
                </a:solidFill>
                <a:latin typeface="Helvetica Neue"/>
              </a:rPr>
              <a:t>定例会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A2D"/>
                </a:solidFill>
                <a:latin typeface="Helvetica Neue"/>
              </a:rPr>
              <a:t>VOL. 04 /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1A2D"/>
                </a:solidFill>
                <a:latin typeface="Helvetica Neue"/>
              </a:rPr>
              <a:t>MEETING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1A2D"/>
                </a:solidFill>
                <a:latin typeface="Helvetica Neue"/>
              </a:rPr>
              <a:t>2026.04.21  ·  08:00-09:00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389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84632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D5D"/>
                </a:solidFill>
                <a:latin typeface="Helvetica Neue"/>
              </a:rPr>
              <a:t>AGENDA / 本日のテーマ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61A2D"/>
                </a:solidFill>
                <a:latin typeface="Helvetica Neue"/>
              </a:rPr>
              <a:t>3つの論点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3566160" cy="3200400"/>
          </a:xfrm>
          <a:prstGeom prst="rect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161A2D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A2D"/>
                </a:solidFill>
                <a:latin typeface="Helvetica Neue"/>
              </a:rPr>
              <a:t>品質ワーキングの進捗報告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3291840"/>
            <a:ext cx="3566160" cy="3200400"/>
          </a:xfrm>
          <a:prstGeom prst="rect">
            <a:avLst/>
          </a:prstGeom>
          <a:solidFill>
            <a:srgbClr val="FFD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5661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161A2D"/>
                </a:solidFill>
                <a:latin typeface="Helvetica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937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A2D"/>
                </a:solidFill>
                <a:latin typeface="Helvetica Neue"/>
              </a:rPr>
              <a:t>展開・広報ワーキングの進捗報告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926080"/>
            <a:ext cx="3566160" cy="32004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200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161A2D"/>
                </a:solidFill>
                <a:latin typeface="Helvetica Ne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A2D"/>
                </a:solidFill>
                <a:latin typeface="Helvetica Neue"/>
              </a:rPr>
              <a:t>その他共有事項（予算確保、人材育成）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A2D"/>
                </a:solidFill>
                <a:latin typeface="Helvetica Neue"/>
              </a:rPr>
              <a:t>— 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61A2D"/>
                </a:solidFill>
                <a:latin typeface="Helvetica Neue"/>
              </a:rPr>
              <a:t>品質ワーキング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D5D"/>
                </a:solidFill>
                <a:latin typeface="Helvetica Neue"/>
              </a:rPr>
              <a:t>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1A2D"/>
                </a:solidFill>
                <a:latin typeface="Helvetica Neue"/>
              </a:rPr>
              <a:t>テーマ:「Teams会議の情報を活用したプロジェクト管理の効率化」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D5D"/>
                </a:solidFill>
                <a:latin typeface="Helvetica Neue"/>
              </a:rPr>
              <a:t>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議事録アシスタント・RAG活用を軸に活動を開始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118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Googleハッカソン「AIエージェントによる会議準備効率化」と知見を相互共有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【課題】Teams議事録の文字起こし（特に漢字変換）精度が要約品質を下げている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177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【改善案】MP4→高精度ツール（例: Aqua Voice）で再文字起こし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1206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【改善案】発言者属性・業務背景を保持する「メモリ機能」で文脈理解を強化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623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Google環境で高精度文字起こしを試験するのが有効（上地さん）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A2D"/>
                </a:solidFill>
                <a:latin typeface="Helvetica Neue"/>
              </a:rPr>
              <a:t>— 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61A2D"/>
                </a:solidFill>
                <a:latin typeface="Helvetica Neue"/>
              </a:rPr>
              <a:t>展開・広報ワーキング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D5D"/>
                </a:solidFill>
                <a:latin typeface="Helvetica Neue"/>
              </a:rPr>
              <a:t>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1A2D"/>
                </a:solidFill>
                <a:latin typeface="Helvetica Neue"/>
              </a:rPr>
              <a:t>PCY斎藤さん参画。Copilot教育のライブ感・期限設定が鍵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D5D"/>
                </a:solidFill>
                <a:latin typeface="Helvetica Neue"/>
              </a:rPr>
              <a:t>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過去のツール展開成功/失敗を分析し、AI展開指針を策定中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118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PPS展示会にて「工程ばらしを起点としたAI活用」がTPS推進部・大石さんに高評価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「トヨタらしいAI活用」として全社標準化をTPS推進部と連携して推進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177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戦略会議で車両開発AI事例を経営層に報告、「効果の明確化」「2ヶ月ごとフォロー」を要求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1206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6月のAI活用展示会で進捗報告（上原役員出張で日程調整の可能性あり）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D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A2D"/>
                </a:solidFill>
                <a:latin typeface="Helvetica Neue"/>
              </a:rPr>
              <a:t>— 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61A2D"/>
                </a:solidFill>
                <a:latin typeface="Helvetica Neue"/>
              </a:rPr>
              <a:t>予算確保・人材育成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D5D"/>
                </a:solidFill>
                <a:latin typeface="Helvetica Neue"/>
              </a:rPr>
              <a:t>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1A2D"/>
                </a:solidFill>
                <a:latin typeface="Helvetica Neue"/>
              </a:rPr>
              <a:t>パワトレ福山室長の協力のもと、予算要求・教育展開を準備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D5D"/>
                </a:solidFill>
                <a:latin typeface="Helvetica Neue"/>
              </a:rPr>
              <a:t>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Azure（RAG利用）等の有償ツール購入計画を共有フォーマットで集約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118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パワトレカンパニーGM層向けAI教育を検討、PTK/EPFマネージャー層にも展開予定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PCY斎藤さんの講座を必須教育化する案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177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安田さん主体でPTK/EPFマネージャー向け説明会を企画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1206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【質疑】マネージャーにはAIリテラシー（可能/不可の見極め）が必要（上野さん）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623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— 【回答】上野さん・大西さんの助言のもと、マネージャー特化の教育資料を作成（安田さん）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53F"/>
                </a:solidFill>
                <a:latin typeface="Helvetica Neue"/>
              </a:rPr>
              <a:t>DECIDED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Helvetica Neue"/>
              </a:rPr>
              <a:t>6つの決定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5486400" cy="1097280"/>
          </a:xfrm>
          <a:prstGeom prst="rect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品質ワーキングは「Teams会議情報の活用」をテーマに活動開始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926080"/>
            <a:ext cx="5486400" cy="10972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200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展開・広報ワーキングはAI展開の活動指針を策定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60520"/>
            <a:ext cx="5486400" cy="10972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#3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34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TPS推進部と連携し「トヨタらしいAI活用」の型作りと全社展開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160520"/>
            <a:ext cx="5486400" cy="1097280"/>
          </a:xfrm>
          <a:prstGeom prst="rect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51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#4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434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6月AI活用展示会で経営層に進捗・効果を報告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5486400" cy="1097280"/>
          </a:xfrm>
          <a:prstGeom prst="rect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#5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69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有償ツールをリスト化し予算要求を準備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394960"/>
            <a:ext cx="5486400" cy="10972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#6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669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PTK・EPFマネージャー向け説明会を実施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D5D"/>
                </a:solidFill>
                <a:latin typeface="Helvetica Neue"/>
              </a:rPr>
              <a:t>NEXT —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61A2D"/>
                </a:solidFill>
                <a:latin typeface="Helvetica Neue"/>
              </a:rPr>
              <a:t>誰が、何を、いつまでに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188720" cy="4572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渡辺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377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ハッカソンの知見を品質ワーキングに共有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D5D"/>
                </a:solidFill>
                <a:latin typeface="Helvetica Neue"/>
              </a:rPr>
              <a:t>▶ 5月末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188720" cy="4572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田原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926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議事録アシスタント高精度化の試験設計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D5D"/>
                </a:solidFill>
                <a:latin typeface="Helvetica Neue"/>
              </a:rPr>
              <a:t>▶ 5月中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1188720" cy="4572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湯浅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Aqua Voice等の代替文字起こしツール評価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D5D"/>
                </a:solidFill>
                <a:latin typeface="Helvetica Neue"/>
              </a:rPr>
              <a:t>▶ 5月中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1188720" cy="4572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上地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023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AI展開活動指針のドラフト作成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D5D"/>
                </a:solidFill>
                <a:latin typeface="Helvetica Neue"/>
              </a:rPr>
              <a:t>▶ 5月末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1188720" cy="4572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橘鷹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TPS推進部との連携プラン具体化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D5D"/>
                </a:solidFill>
                <a:latin typeface="Helvetica Neue"/>
              </a:rPr>
              <a:t>▶ 6月展示会前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120640"/>
            <a:ext cx="1188720" cy="4572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20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安田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120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有償ツールリスト共有フォーマット作成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D5D"/>
                </a:solidFill>
                <a:latin typeface="Helvetica Neue"/>
              </a:rPr>
              <a:t>▶ 4月末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69279"/>
            <a:ext cx="1188720" cy="4572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692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安田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6692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A2D"/>
                </a:solidFill>
                <a:latin typeface="Helvetica Neue"/>
              </a:rPr>
              <a:t>PTK/EPFマネージャー向け説明会の企画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669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D5D"/>
                </a:solidFill>
                <a:latin typeface="Helvetica Neue"/>
              </a:rPr>
              <a:t>▶ 5月末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Helvetica Neue"/>
              </a:rPr>
              <a:t>Keep shipping.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— 次回: 2026.05  ·  AI推進チーム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